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2E4E0-F7E8-4385-83D1-46D5301D37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8D2033-5589-4840-9D91-5FDC4CAADF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71884A8-4E6A-46CF-AD48-F9C1EF61B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VN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E729F3F-96A6-4BB9-82B8-D7257BE18F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4CAB4B-8417-44A9-A81E-6A4D0189D7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VN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VN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5780C72-707D-4603-B565-B686A98DF3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99DB24F-EA1C-492A-98A4-CD64EEF764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F79AEFA-F625-408F-94BD-EFE043BD18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DE66B28-E766-4714-A41E-52F21C211B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6624743-922A-4BBD-9B2F-944F859D7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D35FAAA-0B9C-48D6-9A8E-DBD77378CA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ck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to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ed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it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as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te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tit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le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st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yl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VN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AC09C1-D666-46BB-AB4E-5EA5535AF0E1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VN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VN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VN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8894F3-8B5B-46D7-A3B1-48B787381707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VN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C18225-180A-4322-BEC1-13F5DEC33DC9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ed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VN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D2EFEA-8247-4648-BFA6-00D6515722DF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ic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k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o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di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M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st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r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ti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tl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st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yl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e</a:t>
            </a:r>
            <a:endParaRPr b="0" lang="en-VN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075F75-911C-4EF3-B7A3-F0A15675F546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VN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B8379-FFED-499E-8419-935727EB5998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VN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811B03-D8B6-425B-8D36-18B5E8578FDD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VN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416B21-C680-4F77-A3E9-9A412E4E8875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643C0-FF3E-42DF-847D-D8FA7C50EB00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VN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VN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VN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4DF47-BB05-4C86-AA7B-0714FA15A8FE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VN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VN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VN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8F5A58-5C59-4031-8831-15EA8D0083A1}" type="slidenum">
              <a:rPr b="0" lang="en-VN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45"/>
          <p:cNvSpPr/>
          <p:nvPr/>
        </p:nvSpPr>
        <p:spPr>
          <a:xfrm>
            <a:off x="999720" y="2187360"/>
            <a:ext cx="10191960" cy="501840"/>
          </a:xfrm>
          <a:prstGeom prst="rect">
            <a:avLst/>
          </a:prstGeom>
          <a:solidFill>
            <a:srgbClr val="fffa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999720" y="685800"/>
            <a:ext cx="10191960" cy="548604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1765080" y="1840680"/>
            <a:ext cx="1257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Mã bệnh nhân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3236760" y="1840680"/>
            <a:ext cx="860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Họ và tên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315320" y="1840680"/>
            <a:ext cx="885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Quê quán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5418720" y="1840680"/>
            <a:ext cx="89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Ngày sinh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6497280" y="1840680"/>
            <a:ext cx="955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Chẩn đoán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" name="Straight Connector 10"/>
          <p:cNvCxnSpPr/>
          <p:nvPr/>
        </p:nvCxnSpPr>
        <p:spPr>
          <a:xfrm>
            <a:off x="1187280" y="2165040"/>
            <a:ext cx="9821160" cy="360"/>
          </a:xfrm>
          <a:prstGeom prst="straightConnector1">
            <a:avLst/>
          </a:prstGeom>
          <a:ln>
            <a:solidFill>
              <a:srgbClr val="ffffff">
                <a:lumMod val="50000"/>
              </a:srgbClr>
            </a:solidFill>
          </a:ln>
        </p:spPr>
      </p:cxnSp>
      <p:sp>
        <p:nvSpPr>
          <p:cNvPr id="74" name="TextBox 12"/>
          <p:cNvSpPr/>
          <p:nvPr/>
        </p:nvSpPr>
        <p:spPr>
          <a:xfrm>
            <a:off x="8978760" y="1840680"/>
            <a:ext cx="789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Thao tác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8225280" y="2343240"/>
            <a:ext cx="498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4"/>
          <p:cNvSpPr/>
          <p:nvPr/>
        </p:nvSpPr>
        <p:spPr>
          <a:xfrm>
            <a:off x="8802720" y="2343240"/>
            <a:ext cx="468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Sửa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5"/>
          <p:cNvSpPr/>
          <p:nvPr/>
        </p:nvSpPr>
        <p:spPr>
          <a:xfrm>
            <a:off x="9353520" y="2343240"/>
            <a:ext cx="44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Xóa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6"/>
          <p:cNvSpPr/>
          <p:nvPr/>
        </p:nvSpPr>
        <p:spPr>
          <a:xfrm>
            <a:off x="9777240" y="2343240"/>
            <a:ext cx="1357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Cập nhật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1959120" y="2328120"/>
            <a:ext cx="70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123456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8"/>
          <p:cNvSpPr/>
          <p:nvPr/>
        </p:nvSpPr>
        <p:spPr>
          <a:xfrm>
            <a:off x="3074040" y="2343240"/>
            <a:ext cx="1185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Nguyễn Văn 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9"/>
          <p:cNvSpPr/>
          <p:nvPr/>
        </p:nvSpPr>
        <p:spPr>
          <a:xfrm>
            <a:off x="4436640" y="2347200"/>
            <a:ext cx="642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Hà nội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0"/>
          <p:cNvSpPr/>
          <p:nvPr/>
        </p:nvSpPr>
        <p:spPr>
          <a:xfrm>
            <a:off x="5533920" y="2328120"/>
            <a:ext cx="81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1/1/1980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1"/>
          <p:cNvSpPr/>
          <p:nvPr/>
        </p:nvSpPr>
        <p:spPr>
          <a:xfrm>
            <a:off x="6514560" y="2343240"/>
            <a:ext cx="1078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Bình thường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2"/>
          <p:cNvSpPr/>
          <p:nvPr/>
        </p:nvSpPr>
        <p:spPr>
          <a:xfrm>
            <a:off x="1257480" y="1838880"/>
            <a:ext cx="55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Chọn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23"/>
          <p:cNvSpPr/>
          <p:nvPr/>
        </p:nvSpPr>
        <p:spPr>
          <a:xfrm>
            <a:off x="1411200" y="2304360"/>
            <a:ext cx="249120" cy="24912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6" name="Rounded Rectangle 24"/>
          <p:cNvSpPr/>
          <p:nvPr/>
        </p:nvSpPr>
        <p:spPr>
          <a:xfrm>
            <a:off x="7520760" y="1049400"/>
            <a:ext cx="1130760" cy="42732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Thêm bệnh nhân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25"/>
          <p:cNvSpPr/>
          <p:nvPr/>
        </p:nvSpPr>
        <p:spPr>
          <a:xfrm>
            <a:off x="8830440" y="1049400"/>
            <a:ext cx="1130760" cy="42732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Upload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26"/>
          <p:cNvSpPr/>
          <p:nvPr/>
        </p:nvSpPr>
        <p:spPr>
          <a:xfrm>
            <a:off x="5088240" y="5648400"/>
            <a:ext cx="1705320" cy="370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f9ed5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9" name="TextBox 27"/>
          <p:cNvSpPr/>
          <p:nvPr/>
        </p:nvSpPr>
        <p:spPr>
          <a:xfrm>
            <a:off x="5033880" y="5695560"/>
            <a:ext cx="178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Chức năng phân trang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28"/>
          <p:cNvSpPr/>
          <p:nvPr/>
        </p:nvSpPr>
        <p:spPr>
          <a:xfrm>
            <a:off x="9585720" y="5685120"/>
            <a:ext cx="1060560" cy="370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f9ed5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1" name="TextBox 29"/>
          <p:cNvSpPr/>
          <p:nvPr/>
        </p:nvSpPr>
        <p:spPr>
          <a:xfrm>
            <a:off x="9624960" y="5731920"/>
            <a:ext cx="1037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Xuất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30"/>
          <p:cNvSpPr/>
          <p:nvPr/>
        </p:nvSpPr>
        <p:spPr>
          <a:xfrm>
            <a:off x="10140120" y="1049400"/>
            <a:ext cx="667800" cy="42732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User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Straight Arrow Connector 32"/>
          <p:cNvCxnSpPr/>
          <p:nvPr/>
        </p:nvCxnSpPr>
        <p:spPr>
          <a:xfrm flipH="1">
            <a:off x="10455840" y="375480"/>
            <a:ext cx="161640" cy="63288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94" name="TextBox 33"/>
          <p:cNvSpPr/>
          <p:nvPr/>
        </p:nvSpPr>
        <p:spPr>
          <a:xfrm>
            <a:off x="8268120" y="-285120"/>
            <a:ext cx="4058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Vào trang thông tin của user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Log out/ thay đổi thông tin/thay đổi pass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" name="Straight Arrow Connector 34"/>
          <p:cNvCxnSpPr/>
          <p:nvPr/>
        </p:nvCxnSpPr>
        <p:spPr>
          <a:xfrm>
            <a:off x="492120" y="1653840"/>
            <a:ext cx="932040" cy="6055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96" name="TextBox 36"/>
          <p:cNvSpPr/>
          <p:nvPr/>
        </p:nvSpPr>
        <p:spPr>
          <a:xfrm>
            <a:off x="-945720" y="596160"/>
            <a:ext cx="214272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Chọn bệnh nhân để thực hiện thao tác download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hoặc xóa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37"/>
          <p:cNvSpPr/>
          <p:nvPr/>
        </p:nvSpPr>
        <p:spPr>
          <a:xfrm>
            <a:off x="8396640" y="5695920"/>
            <a:ext cx="1060560" cy="370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f9ed5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8" name="TextBox 38"/>
          <p:cNvSpPr/>
          <p:nvPr/>
        </p:nvSpPr>
        <p:spPr>
          <a:xfrm>
            <a:off x="8465040" y="5743080"/>
            <a:ext cx="97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Xóa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0"/>
          <p:cNvSpPr/>
          <p:nvPr/>
        </p:nvSpPr>
        <p:spPr>
          <a:xfrm>
            <a:off x="1251000" y="1049400"/>
            <a:ext cx="2986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DANH SÁCH BỆNH NHÂN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" name="Straight Arrow Connector 41"/>
          <p:cNvCxnSpPr/>
          <p:nvPr/>
        </p:nvCxnSpPr>
        <p:spPr>
          <a:xfrm>
            <a:off x="7240320" y="118080"/>
            <a:ext cx="2109240" cy="8377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01" name="TextBox 44"/>
          <p:cNvSpPr/>
          <p:nvPr/>
        </p:nvSpPr>
        <p:spPr>
          <a:xfrm>
            <a:off x="4732560" y="-547200"/>
            <a:ext cx="3491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Chức năng này cho phép upload dữ liệu của bệnh nhân theo batch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46"/>
          <p:cNvSpPr/>
          <p:nvPr/>
        </p:nvSpPr>
        <p:spPr>
          <a:xfrm>
            <a:off x="1008720" y="2734200"/>
            <a:ext cx="10182960" cy="501840"/>
          </a:xfrm>
          <a:prstGeom prst="rect">
            <a:avLst/>
          </a:prstGeom>
          <a:solidFill>
            <a:srgbClr val="ff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cxnSp>
        <p:nvCxnSpPr>
          <p:cNvPr id="103" name="Straight Connector 47"/>
          <p:cNvCxnSpPr/>
          <p:nvPr/>
        </p:nvCxnSpPr>
        <p:spPr>
          <a:xfrm>
            <a:off x="1196280" y="2711880"/>
            <a:ext cx="9821160" cy="360"/>
          </a:xfrm>
          <a:prstGeom prst="straightConnector1">
            <a:avLst/>
          </a:prstGeom>
          <a:ln>
            <a:solidFill>
              <a:srgbClr val="ffffff">
                <a:lumMod val="50000"/>
              </a:srgbClr>
            </a:solidFill>
          </a:ln>
        </p:spPr>
      </p:cxnSp>
      <p:sp>
        <p:nvSpPr>
          <p:cNvPr id="104" name="TextBox 48"/>
          <p:cNvSpPr/>
          <p:nvPr/>
        </p:nvSpPr>
        <p:spPr>
          <a:xfrm>
            <a:off x="8234280" y="2890080"/>
            <a:ext cx="498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49"/>
          <p:cNvSpPr/>
          <p:nvPr/>
        </p:nvSpPr>
        <p:spPr>
          <a:xfrm>
            <a:off x="8811720" y="2890080"/>
            <a:ext cx="468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Sửa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50"/>
          <p:cNvSpPr/>
          <p:nvPr/>
        </p:nvSpPr>
        <p:spPr>
          <a:xfrm>
            <a:off x="9362520" y="2890080"/>
            <a:ext cx="447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Xóa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51"/>
          <p:cNvSpPr/>
          <p:nvPr/>
        </p:nvSpPr>
        <p:spPr>
          <a:xfrm>
            <a:off x="9786240" y="2890080"/>
            <a:ext cx="1357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Cập nhật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52"/>
          <p:cNvSpPr/>
          <p:nvPr/>
        </p:nvSpPr>
        <p:spPr>
          <a:xfrm>
            <a:off x="1968120" y="2874960"/>
            <a:ext cx="70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123456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53"/>
          <p:cNvSpPr/>
          <p:nvPr/>
        </p:nvSpPr>
        <p:spPr>
          <a:xfrm>
            <a:off x="3083040" y="2890080"/>
            <a:ext cx="1185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Nguyễn Văn 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54"/>
          <p:cNvSpPr/>
          <p:nvPr/>
        </p:nvSpPr>
        <p:spPr>
          <a:xfrm>
            <a:off x="4445640" y="2894040"/>
            <a:ext cx="642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Hà nội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55"/>
          <p:cNvSpPr/>
          <p:nvPr/>
        </p:nvSpPr>
        <p:spPr>
          <a:xfrm>
            <a:off x="5542560" y="2874960"/>
            <a:ext cx="81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1/1/1980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56"/>
          <p:cNvSpPr/>
          <p:nvPr/>
        </p:nvSpPr>
        <p:spPr>
          <a:xfrm>
            <a:off x="6523560" y="2890080"/>
            <a:ext cx="1078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Bình thường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57"/>
          <p:cNvSpPr/>
          <p:nvPr/>
        </p:nvSpPr>
        <p:spPr>
          <a:xfrm>
            <a:off x="1420200" y="2851200"/>
            <a:ext cx="249120" cy="24912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4" name="TextBox 58"/>
          <p:cNvSpPr/>
          <p:nvPr/>
        </p:nvSpPr>
        <p:spPr>
          <a:xfrm>
            <a:off x="2257920" y="3520800"/>
            <a:ext cx="5627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màu vàng là bệnh nhân bị trầm cảm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màu tím là bệnh nhân tâm thần phân liệt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không màu là không bị bệnh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3"/>
          <p:cNvSpPr/>
          <p:nvPr/>
        </p:nvSpPr>
        <p:spPr>
          <a:xfrm>
            <a:off x="-4840560" y="-3375360"/>
            <a:ext cx="24728400" cy="13662000"/>
          </a:xfrm>
          <a:prstGeom prst="rect">
            <a:avLst/>
          </a:prstGeom>
          <a:noFill/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6" name="Rounded Rectangle 24"/>
          <p:cNvSpPr/>
          <p:nvPr/>
        </p:nvSpPr>
        <p:spPr>
          <a:xfrm>
            <a:off x="16242120" y="-3056040"/>
            <a:ext cx="1130760" cy="42732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Thêm bệnh nhân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25"/>
          <p:cNvSpPr/>
          <p:nvPr/>
        </p:nvSpPr>
        <p:spPr>
          <a:xfrm>
            <a:off x="17551800" y="-3056040"/>
            <a:ext cx="1130760" cy="42732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Upload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26"/>
          <p:cNvSpPr/>
          <p:nvPr/>
        </p:nvSpPr>
        <p:spPr>
          <a:xfrm>
            <a:off x="5801040" y="9379080"/>
            <a:ext cx="1705320" cy="370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f9ed5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9" name="TextBox 27"/>
          <p:cNvSpPr/>
          <p:nvPr/>
        </p:nvSpPr>
        <p:spPr>
          <a:xfrm>
            <a:off x="5746320" y="9425880"/>
            <a:ext cx="178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Chức năng phân trang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28"/>
          <p:cNvSpPr/>
          <p:nvPr/>
        </p:nvSpPr>
        <p:spPr>
          <a:xfrm>
            <a:off x="18270720" y="9553320"/>
            <a:ext cx="1060560" cy="370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f9ed5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1" name="TextBox 29"/>
          <p:cNvSpPr/>
          <p:nvPr/>
        </p:nvSpPr>
        <p:spPr>
          <a:xfrm>
            <a:off x="18310320" y="9600480"/>
            <a:ext cx="1037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Xuất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30"/>
          <p:cNvSpPr/>
          <p:nvPr/>
        </p:nvSpPr>
        <p:spPr>
          <a:xfrm>
            <a:off x="18861480" y="-3056040"/>
            <a:ext cx="667800" cy="427320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User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37"/>
          <p:cNvSpPr/>
          <p:nvPr/>
        </p:nvSpPr>
        <p:spPr>
          <a:xfrm>
            <a:off x="17082000" y="9564480"/>
            <a:ext cx="1060560" cy="370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f9ed5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4" name="TextBox 38"/>
          <p:cNvSpPr/>
          <p:nvPr/>
        </p:nvSpPr>
        <p:spPr>
          <a:xfrm>
            <a:off x="17150040" y="9611640"/>
            <a:ext cx="979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Xóa dữ liệu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"/>
          <p:cNvSpPr/>
          <p:nvPr/>
        </p:nvSpPr>
        <p:spPr>
          <a:xfrm>
            <a:off x="-4599360" y="-3011760"/>
            <a:ext cx="449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THÔNG TIN CHI TIẾT CỦA BỆNH NHÂN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2"/>
          <p:cNvSpPr/>
          <p:nvPr/>
        </p:nvSpPr>
        <p:spPr>
          <a:xfrm>
            <a:off x="-4579560" y="-2178720"/>
            <a:ext cx="24180840" cy="1236600"/>
          </a:xfrm>
          <a:prstGeom prst="roundRect">
            <a:avLst>
              <a:gd name="adj" fmla="val 6884"/>
            </a:avLst>
          </a:prstGeom>
          <a:solidFill>
            <a:srgbClr val="f3faf4"/>
          </a:solidFill>
          <a:ln w="9525">
            <a:solidFill>
              <a:srgbClr val="4ea72e">
                <a:lumMod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-4456080" y="-2103480"/>
            <a:ext cx="2185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THỦ TỤC HÀNH CHÍNH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-4325040" y="-1815120"/>
            <a:ext cx="6723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Hiển thị các thông tin trong mục THỦ TỤC HÀNH CHÍNH của phiếu khám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31"/>
          <p:cNvSpPr/>
          <p:nvPr/>
        </p:nvSpPr>
        <p:spPr>
          <a:xfrm>
            <a:off x="18713160" y="-1510200"/>
            <a:ext cx="667800" cy="42732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lt1"/>
                </a:solidFill>
                <a:latin typeface="Arial Unicode MS"/>
                <a:ea typeface="Arial Unicode MS"/>
              </a:rPr>
              <a:t>Sửa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35"/>
          <p:cNvSpPr/>
          <p:nvPr/>
        </p:nvSpPr>
        <p:spPr>
          <a:xfrm>
            <a:off x="-4579560" y="-732240"/>
            <a:ext cx="24180840" cy="1236600"/>
          </a:xfrm>
          <a:prstGeom prst="roundRect">
            <a:avLst>
              <a:gd name="adj" fmla="val 6884"/>
            </a:avLst>
          </a:prstGeom>
          <a:solidFill>
            <a:srgbClr val="fefff2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" name="TextBox 39"/>
          <p:cNvSpPr/>
          <p:nvPr/>
        </p:nvSpPr>
        <p:spPr>
          <a:xfrm>
            <a:off x="-4448880" y="-657360"/>
            <a:ext cx="1074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HỎI BỆNH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40"/>
          <p:cNvSpPr/>
          <p:nvPr/>
        </p:nvSpPr>
        <p:spPr>
          <a:xfrm>
            <a:off x="-4360320" y="-368640"/>
            <a:ext cx="5603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Hiển thị các thông tin trong mục HỎI BỆNH của phiếu khám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41"/>
          <p:cNvSpPr/>
          <p:nvPr/>
        </p:nvSpPr>
        <p:spPr>
          <a:xfrm>
            <a:off x="18713160" y="-63720"/>
            <a:ext cx="667800" cy="427320"/>
          </a:xfrm>
          <a:prstGeom prst="roundRect">
            <a:avLst>
              <a:gd name="adj" fmla="val 16667"/>
            </a:avLst>
          </a:prstGeom>
          <a:solidFill>
            <a:srgbClr val="e2ab02"/>
          </a:solidFill>
          <a:ln>
            <a:solidFill>
              <a:srgbClr val="e2ab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lt1"/>
                </a:solidFill>
                <a:latin typeface="Arial Unicode MS"/>
                <a:ea typeface="Arial Unicode MS"/>
              </a:rPr>
              <a:t>Sửa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42"/>
          <p:cNvSpPr/>
          <p:nvPr/>
        </p:nvSpPr>
        <p:spPr>
          <a:xfrm>
            <a:off x="-4443840" y="-1451880"/>
            <a:ext cx="24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(thông tin ít thay đổi)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43"/>
          <p:cNvSpPr/>
          <p:nvPr/>
        </p:nvSpPr>
        <p:spPr>
          <a:xfrm>
            <a:off x="-4443840" y="-36000"/>
            <a:ext cx="24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(thông tin ít thay đổi)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44"/>
          <p:cNvSpPr/>
          <p:nvPr/>
        </p:nvSpPr>
        <p:spPr>
          <a:xfrm>
            <a:off x="-4814280" y="363600"/>
            <a:ext cx="24180840" cy="3876120"/>
          </a:xfrm>
          <a:prstGeom prst="roundRect">
            <a:avLst>
              <a:gd name="adj" fmla="val 6884"/>
            </a:avLst>
          </a:prstGeom>
          <a:noFill/>
          <a:ln w="9525">
            <a:solidFill>
              <a:srgbClr val="e97132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" name="TextBox 45"/>
          <p:cNvSpPr/>
          <p:nvPr/>
        </p:nvSpPr>
        <p:spPr>
          <a:xfrm>
            <a:off x="-4447800" y="815040"/>
            <a:ext cx="1272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KHÁM BỆNH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46"/>
          <p:cNvSpPr/>
          <p:nvPr/>
        </p:nvSpPr>
        <p:spPr>
          <a:xfrm>
            <a:off x="-4340520" y="1103400"/>
            <a:ext cx="5789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VN" sz="16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Hiển thị các thông tin trong mục KHÁM BỆNH của phiếu khám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47"/>
          <p:cNvSpPr/>
          <p:nvPr/>
        </p:nvSpPr>
        <p:spPr>
          <a:xfrm>
            <a:off x="18403920" y="4008240"/>
            <a:ext cx="962640" cy="42732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lt1"/>
                </a:solidFill>
                <a:latin typeface="Arial Unicode MS"/>
                <a:ea typeface="Arial Unicode MS"/>
              </a:rPr>
              <a:t>Nhập bằng tay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48"/>
          <p:cNvSpPr/>
          <p:nvPr/>
        </p:nvSpPr>
        <p:spPr>
          <a:xfrm>
            <a:off x="-4373280" y="1436040"/>
            <a:ext cx="9458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(bệnh nhân có nhiều lần đi khám, dữ liệu sẽ hiển thị dưới dạng bảng, theo ngày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Trong bảng chỉ hiển thị một số trường chính, click vào button “Chi tiết” thì sẽ hiển thị thông tin chi tiết)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Straight Connector 55"/>
          <p:cNvCxnSpPr/>
          <p:nvPr/>
        </p:nvCxnSpPr>
        <p:spPr>
          <a:xfrm>
            <a:off x="-4347360" y="2460600"/>
            <a:ext cx="23861880" cy="360"/>
          </a:xfrm>
          <a:prstGeom prst="straightConnector1">
            <a:avLst/>
          </a:prstGeom>
          <a:ln>
            <a:solidFill>
              <a:srgbClr val="ffffff">
                <a:lumMod val="50000"/>
              </a:srgbClr>
            </a:solidFill>
          </a:ln>
        </p:spPr>
      </p:cxnSp>
      <p:sp>
        <p:nvSpPr>
          <p:cNvPr id="142" name="TextBox 66"/>
          <p:cNvSpPr/>
          <p:nvPr/>
        </p:nvSpPr>
        <p:spPr>
          <a:xfrm>
            <a:off x="-4496400" y="2134440"/>
            <a:ext cx="99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Ngáy khám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69"/>
          <p:cNvSpPr/>
          <p:nvPr/>
        </p:nvSpPr>
        <p:spPr>
          <a:xfrm>
            <a:off x="-3484800" y="2138760"/>
            <a:ext cx="892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Toàn thân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70"/>
          <p:cNvSpPr/>
          <p:nvPr/>
        </p:nvSpPr>
        <p:spPr>
          <a:xfrm>
            <a:off x="-2588400" y="2127960"/>
            <a:ext cx="93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Tuần hoàn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71"/>
          <p:cNvSpPr/>
          <p:nvPr/>
        </p:nvSpPr>
        <p:spPr>
          <a:xfrm>
            <a:off x="-1640520" y="2138040"/>
            <a:ext cx="6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Hô hấp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72"/>
          <p:cNvSpPr/>
          <p:nvPr/>
        </p:nvSpPr>
        <p:spPr>
          <a:xfrm>
            <a:off x="-970200" y="2142720"/>
            <a:ext cx="795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Tiêu hóa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73"/>
          <p:cNvSpPr/>
          <p:nvPr/>
        </p:nvSpPr>
        <p:spPr>
          <a:xfrm>
            <a:off x="-217800" y="2147400"/>
            <a:ext cx="797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Tiết niệu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74"/>
          <p:cNvSpPr/>
          <p:nvPr/>
        </p:nvSpPr>
        <p:spPr>
          <a:xfrm>
            <a:off x="560880" y="2147400"/>
            <a:ext cx="1311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Khám thần kinh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75"/>
          <p:cNvSpPr/>
          <p:nvPr/>
        </p:nvSpPr>
        <p:spPr>
          <a:xfrm>
            <a:off x="1889280" y="2153880"/>
            <a:ext cx="1872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Khám các bộ phận khác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" name="Straight Connector 77"/>
          <p:cNvCxnSpPr/>
          <p:nvPr/>
        </p:nvCxnSpPr>
        <p:spPr>
          <a:xfrm>
            <a:off x="3823200" y="2147400"/>
            <a:ext cx="360" cy="153288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cxnSp>
        <p:nvCxnSpPr>
          <p:cNvPr id="151" name="Straight Connector 78"/>
          <p:cNvCxnSpPr/>
          <p:nvPr/>
        </p:nvCxnSpPr>
        <p:spPr>
          <a:xfrm>
            <a:off x="-3518640" y="2127960"/>
            <a:ext cx="360" cy="155232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sp>
        <p:nvSpPr>
          <p:cNvPr id="152" name="TextBox 79"/>
          <p:cNvSpPr/>
          <p:nvPr/>
        </p:nvSpPr>
        <p:spPr>
          <a:xfrm>
            <a:off x="4363920" y="1904760"/>
            <a:ext cx="1706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KHÁM TÂM THẦN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81"/>
          <p:cNvSpPr/>
          <p:nvPr/>
        </p:nvSpPr>
        <p:spPr>
          <a:xfrm>
            <a:off x="3854520" y="2176200"/>
            <a:ext cx="2992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1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Các trường dữ liệu của phần khám tâm thần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4" name="Straight Connector 82"/>
          <p:cNvCxnSpPr/>
          <p:nvPr/>
        </p:nvCxnSpPr>
        <p:spPr>
          <a:xfrm>
            <a:off x="6937920" y="2144880"/>
            <a:ext cx="360" cy="153540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sp>
        <p:nvSpPr>
          <p:cNvPr id="155" name="TextBox 83"/>
          <p:cNvSpPr/>
          <p:nvPr/>
        </p:nvSpPr>
        <p:spPr>
          <a:xfrm>
            <a:off x="7498080" y="1902240"/>
            <a:ext cx="2247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CẬN LÂM SÀNG CHUNG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84"/>
          <p:cNvSpPr/>
          <p:nvPr/>
        </p:nvSpPr>
        <p:spPr>
          <a:xfrm>
            <a:off x="6969240" y="2173680"/>
            <a:ext cx="2992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1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Các trường dữ liệu của cận lâm sàng chung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Straight Connector 86"/>
          <p:cNvCxnSpPr/>
          <p:nvPr/>
        </p:nvCxnSpPr>
        <p:spPr>
          <a:xfrm>
            <a:off x="10075680" y="2139480"/>
            <a:ext cx="360" cy="154080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sp>
        <p:nvSpPr>
          <p:cNvPr id="158" name="TextBox 87"/>
          <p:cNvSpPr/>
          <p:nvPr/>
        </p:nvSpPr>
        <p:spPr>
          <a:xfrm>
            <a:off x="10642680" y="1896840"/>
            <a:ext cx="2075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CẬN LÂM SÀNG KHÁC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88"/>
          <p:cNvSpPr/>
          <p:nvPr/>
        </p:nvSpPr>
        <p:spPr>
          <a:xfrm>
            <a:off x="10107000" y="2168280"/>
            <a:ext cx="2992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1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Các trường dữ liệu của cận lâm sàng khác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0" name="Straight Connector 89"/>
          <p:cNvCxnSpPr/>
          <p:nvPr/>
        </p:nvCxnSpPr>
        <p:spPr>
          <a:xfrm>
            <a:off x="13044960" y="2148840"/>
            <a:ext cx="360" cy="153144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sp>
        <p:nvSpPr>
          <p:cNvPr id="161" name="TextBox 90"/>
          <p:cNvSpPr/>
          <p:nvPr/>
        </p:nvSpPr>
        <p:spPr>
          <a:xfrm>
            <a:off x="13594320" y="1906200"/>
            <a:ext cx="1281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CHẨN ĐOÁN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91"/>
          <p:cNvSpPr/>
          <p:nvPr/>
        </p:nvSpPr>
        <p:spPr>
          <a:xfrm>
            <a:off x="13075920" y="2177640"/>
            <a:ext cx="2992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1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Các trường dữ liệu của chẩn đoán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3" name="Straight Connector 93"/>
          <p:cNvCxnSpPr/>
          <p:nvPr/>
        </p:nvCxnSpPr>
        <p:spPr>
          <a:xfrm>
            <a:off x="15510240" y="2139480"/>
            <a:ext cx="360" cy="157212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sp>
        <p:nvSpPr>
          <p:cNvPr id="164" name="TextBox 94"/>
          <p:cNvSpPr/>
          <p:nvPr/>
        </p:nvSpPr>
        <p:spPr>
          <a:xfrm>
            <a:off x="16068600" y="1896840"/>
            <a:ext cx="952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ĐIỀU TRỊ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95"/>
          <p:cNvSpPr/>
          <p:nvPr/>
        </p:nvSpPr>
        <p:spPr>
          <a:xfrm>
            <a:off x="15541200" y="2168280"/>
            <a:ext cx="2992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1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Các trường dữ liệu của điều trị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6" name="Straight Connector 96"/>
          <p:cNvCxnSpPr/>
          <p:nvPr/>
        </p:nvCxnSpPr>
        <p:spPr>
          <a:xfrm>
            <a:off x="17712360" y="2147400"/>
            <a:ext cx="360" cy="1564200"/>
          </a:xfrm>
          <a:prstGeom prst="straightConnector1">
            <a:avLst/>
          </a:prstGeom>
          <a:ln w="34925">
            <a:solidFill>
              <a:srgbClr val="ffffff">
                <a:lumMod val="50000"/>
              </a:srgbClr>
            </a:solidFill>
          </a:ln>
        </p:spPr>
      </p:cxnSp>
      <p:sp>
        <p:nvSpPr>
          <p:cNvPr id="167" name="TextBox 97"/>
          <p:cNvSpPr/>
          <p:nvPr/>
        </p:nvSpPr>
        <p:spPr>
          <a:xfrm>
            <a:off x="18086760" y="1908720"/>
            <a:ext cx="1051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VN" sz="14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THAO TÁC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00"/>
          <p:cNvSpPr/>
          <p:nvPr/>
        </p:nvSpPr>
        <p:spPr>
          <a:xfrm>
            <a:off x="17730720" y="2168280"/>
            <a:ext cx="684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Chi tiết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01"/>
          <p:cNvSpPr/>
          <p:nvPr/>
        </p:nvSpPr>
        <p:spPr>
          <a:xfrm>
            <a:off x="18377280" y="2168280"/>
            <a:ext cx="492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Sửa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02"/>
          <p:cNvSpPr/>
          <p:nvPr/>
        </p:nvSpPr>
        <p:spPr>
          <a:xfrm>
            <a:off x="18872640" y="2165040"/>
            <a:ext cx="487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Xóa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103"/>
          <p:cNvSpPr/>
          <p:nvPr/>
        </p:nvSpPr>
        <p:spPr>
          <a:xfrm>
            <a:off x="15945480" y="4014360"/>
            <a:ext cx="962640" cy="42732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lt1"/>
                </a:solidFill>
                <a:latin typeface="Arial Unicode MS"/>
                <a:ea typeface="Arial Unicode MS"/>
              </a:rPr>
              <a:t>OCR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Rounded Rectangle 104"/>
          <p:cNvSpPr/>
          <p:nvPr/>
        </p:nvSpPr>
        <p:spPr>
          <a:xfrm>
            <a:off x="17159040" y="4003560"/>
            <a:ext cx="1111320" cy="42732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rgbClr val="ffffff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VN" sz="1200" spc="-1" strike="noStrike">
                <a:solidFill>
                  <a:schemeClr val="lt1"/>
                </a:solidFill>
                <a:latin typeface="Arial Unicode MS"/>
                <a:ea typeface="Arial Unicode MS"/>
              </a:rPr>
              <a:t>upload phiếu khám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3" name="Straight Arrow Connector 117"/>
          <p:cNvCxnSpPr>
            <a:endCxn id="171" idx="2"/>
          </p:cNvCxnSpPr>
          <p:nvPr/>
        </p:nvCxnSpPr>
        <p:spPr>
          <a:xfrm flipV="1">
            <a:off x="14866560" y="4441680"/>
            <a:ext cx="1560600" cy="61452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74" name="TextBox 119"/>
          <p:cNvSpPr/>
          <p:nvPr/>
        </p:nvSpPr>
        <p:spPr>
          <a:xfrm>
            <a:off x="10078200" y="5088600"/>
            <a:ext cx="6589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cick vào đây thì sẽ cho phép upload 1 file ảnh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dùng OCR bóc tách dữ liệu và tự động thêm 1 row vào bảng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5" name="Straight Arrow Connector 121"/>
          <p:cNvCxnSpPr>
            <a:endCxn id="172" idx="2"/>
          </p:cNvCxnSpPr>
          <p:nvPr/>
        </p:nvCxnSpPr>
        <p:spPr>
          <a:xfrm flipV="1">
            <a:off x="16212960" y="4430880"/>
            <a:ext cx="1501920" cy="18615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76" name="TextBox 124"/>
          <p:cNvSpPr/>
          <p:nvPr/>
        </p:nvSpPr>
        <p:spPr>
          <a:xfrm>
            <a:off x="11404440" y="6124680"/>
            <a:ext cx="5164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click vào đây thì sẽ upload 1 file digital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tự động đọc thông tin và thêm 1 row vào bảng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25"/>
          <p:cNvSpPr/>
          <p:nvPr/>
        </p:nvSpPr>
        <p:spPr>
          <a:xfrm>
            <a:off x="17443800" y="5645880"/>
            <a:ext cx="24444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click vào đây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thì sẽ hiển thị layout nhập dữ liệu giống hệt phiếu khám, user nhập thông tin vào form đó, hệ thống cập nhật 1 row vào bảng này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8" name="Straight Arrow Connector 126"/>
          <p:cNvCxnSpPr/>
          <p:nvPr/>
        </p:nvCxnSpPr>
        <p:spPr>
          <a:xfrm flipH="1" flipV="1">
            <a:off x="18801000" y="4525560"/>
            <a:ext cx="315720" cy="91620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79" name="Left Brace 130"/>
          <p:cNvSpPr/>
          <p:nvPr/>
        </p:nvSpPr>
        <p:spPr>
          <a:xfrm>
            <a:off x="9681120" y="5129640"/>
            <a:ext cx="519840" cy="1860840"/>
          </a:xfrm>
          <a:prstGeom prst="leftBrace">
            <a:avLst>
              <a:gd name="adj1" fmla="val 73725"/>
              <a:gd name="adj2" fmla="val 50000"/>
            </a:avLst>
          </a:prstGeom>
          <a:noFill/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0" name="TextBox 131"/>
          <p:cNvSpPr/>
          <p:nvPr/>
        </p:nvSpPr>
        <p:spPr>
          <a:xfrm>
            <a:off x="4929120" y="4842360"/>
            <a:ext cx="461808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ptos Display"/>
              <a:buAutoNum type="arabicPeriod"/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Khi click vào 2 button này thì sẽ sẽ ra popup cho upload file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ptos Display"/>
              <a:buAutoNum type="arabicPeriod"/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S</a:t>
            </a:r>
            <a:r>
              <a:rPr b="0" lang="en-US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a</a:t>
            </a: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u khi user upload file và hệ thống xử lý xong thì sẽ ra màn hình review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ptos Display"/>
              <a:buAutoNum type="arabicPeriod"/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Tai màn hình review sẽ có bên trái là file được upload lên, bên phải là kết quả đọc của AI (theo đúng layout của template)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ptos Display"/>
              <a:buAutoNum type="arabicPeriod"/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User có thể chính sửa những chỗ sai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ptos Display"/>
              <a:buAutoNum type="arabicPeriod"/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Ở phía dưới màn hình sẽ có button “Lưu”, click vào đó thì sẽ lưu dữ liệu vào DB và quay lại màn hình list này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1" name="Straight Arrow Connector 136"/>
          <p:cNvCxnSpPr/>
          <p:nvPr/>
        </p:nvCxnSpPr>
        <p:spPr>
          <a:xfrm flipV="1">
            <a:off x="-3034800" y="2334240"/>
            <a:ext cx="360" cy="3026160"/>
          </a:xfrm>
          <a:prstGeom prst="straightConnector1">
            <a:avLst/>
          </a:prstGeom>
          <a:ln>
            <a:solidFill>
              <a:srgbClr val="156082"/>
            </a:solidFill>
            <a:tailEnd len="med" type="triangle" w="med"/>
          </a:ln>
        </p:spPr>
      </p:cxnSp>
      <p:sp>
        <p:nvSpPr>
          <p:cNvPr id="182" name="TextBox 137"/>
          <p:cNvSpPr/>
          <p:nvPr/>
        </p:nvSpPr>
        <p:spPr>
          <a:xfrm>
            <a:off x="-4022640" y="5375880"/>
            <a:ext cx="5077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800" spc="-1" strike="noStrike">
                <a:solidFill>
                  <a:schemeClr val="dk1"/>
                </a:solidFill>
                <a:latin typeface="Arial Unicode MS"/>
                <a:ea typeface="Arial Unicode MS"/>
              </a:rPr>
              <a:t>Click vào tên của các trường mà có kiểu dữ liệu là numerical thì sẽ hiển thị đồ thị dữ liệu theo thời gian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138"/>
          <p:cNvSpPr/>
          <p:nvPr/>
        </p:nvSpPr>
        <p:spPr>
          <a:xfrm>
            <a:off x="-4615920" y="5285880"/>
            <a:ext cx="24180840" cy="3876120"/>
          </a:xfrm>
          <a:prstGeom prst="roundRect">
            <a:avLst>
              <a:gd name="adj" fmla="val 6884"/>
            </a:avLst>
          </a:prstGeom>
          <a:noFill/>
          <a:ln w="9525">
            <a:solidFill>
              <a:srgbClr val="e97132">
                <a:lumMod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VN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84" name="TextBox 139"/>
          <p:cNvSpPr/>
          <p:nvPr/>
        </p:nvSpPr>
        <p:spPr>
          <a:xfrm>
            <a:off x="-3998880" y="7855200"/>
            <a:ext cx="9458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VN" sz="16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PHÍA DƯỚI NÀY HIỂN THỊ MỘT SỐ BIỂU ĐỒ THÔNG KÊ VỀ CÁC CHỈ SỐ CỦA BỆNH NHÂN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LibreOffice/24.2.7.2$Linux_X86_64 LibreOffice_project/420$Build-2</Application>
  <AppVersion>15.0000</AppVersion>
  <Words>573</Words>
  <Paragraphs>97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2026-07-26T10:57:44Z</dcterms:created>
  <dc:creator>Nguyễn Phi Lê</dc:creator>
  <dc:description/>
  <dc:language>en-US</dc:language>
  <cp:lastModifiedBy/>
  <cp:lastPrinted>2026-07-27T21:01:06Z</cp:lastPrinted>
  <dcterms:modified xsi:type="dcterms:W3CDTF">2026-07-27T22:08:56Z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